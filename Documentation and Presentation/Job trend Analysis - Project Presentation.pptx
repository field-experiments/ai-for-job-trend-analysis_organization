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  <p:embeddedFont>
      <p:font typeface="Urbanist Medium"/>
      <p:regular r:id="rId22"/>
      <p:bold r:id="rId23"/>
      <p:italic r:id="rId24"/>
      <p:boldItalic r:id="rId25"/>
    </p:embeddedFont>
    <p:embeddedFont>
      <p:font typeface="Urbanist SemiBold"/>
      <p:regular r:id="rId26"/>
      <p:bold r:id="rId27"/>
      <p:italic r:id="rId28"/>
      <p:boldItalic r:id="rId29"/>
    </p:embeddedFont>
    <p:embeddedFont>
      <p:font typeface="Urbanist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179E1B-7E6A-4949-828D-5E934FB612F4}">
  <a:tblStyle styleId="{B5179E1B-7E6A-4949-828D-5E934FB612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22" Type="http://schemas.openxmlformats.org/officeDocument/2006/relationships/font" Target="fonts/UrbanistMedium-regular.fntdata"/><Relationship Id="rId21" Type="http://schemas.openxmlformats.org/officeDocument/2006/relationships/font" Target="fonts/ProximaNova-boldItalic.fntdata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UrbanistSemiBold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UrbanistSemiBold-italic.fntdata"/><Relationship Id="rId27" Type="http://schemas.openxmlformats.org/officeDocument/2006/relationships/font" Target="fonts/UrbanistSemiBold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UrbanistSemiBold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-bold.fntdata"/><Relationship Id="rId30" Type="http://schemas.openxmlformats.org/officeDocument/2006/relationships/font" Target="fonts/Urbanist-regular.fntdata"/><Relationship Id="rId11" Type="http://schemas.openxmlformats.org/officeDocument/2006/relationships/slide" Target="slides/slide4.xml"/><Relationship Id="rId33" Type="http://schemas.openxmlformats.org/officeDocument/2006/relationships/font" Target="fonts/Urbanist-boldItalic.fntdata"/><Relationship Id="rId10" Type="http://schemas.openxmlformats.org/officeDocument/2006/relationships/slide" Target="slides/slide3.xml"/><Relationship Id="rId32" Type="http://schemas.openxmlformats.org/officeDocument/2006/relationships/font" Target="fonts/Urbanist-italic.fntdata"/><Relationship Id="rId13" Type="http://schemas.openxmlformats.org/officeDocument/2006/relationships/slide" Target="slides/slide6.xml"/><Relationship Id="rId35" Type="http://schemas.openxmlformats.org/officeDocument/2006/relationships/font" Target="fonts/RobotoMono-bold.fntdata"/><Relationship Id="rId12" Type="http://schemas.openxmlformats.org/officeDocument/2006/relationships/slide" Target="slides/slide5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8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7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ProximaNova-bold.fntdata"/><Relationship Id="rId1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ba917b494f_0_1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ba917b494f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ba917b494f_0_1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ba917b494f_0_1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a917b494f_0_1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ba917b494f_0_1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b8ad660cd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b8ad660cd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ba917b494f_0_1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ba917b494f_0_1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ba917b494f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ba917b494f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8ad660cd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b8ad660cd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a917b494f_0_1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ba917b494f_0_1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ba917b494f_0_1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ba917b494f_0_1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a917b494f_0_1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ba917b494f_0_1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" name="Google Shape;69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70" name="Google Shape;70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" name="Google Shape;73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1" name="Google Shape;81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4" name="Google Shape;8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2" name="Google Shape;92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6" name="Google Shape;96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0" name="Google Shape;110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12" name="Google Shape;112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9" name="Google Shape;11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23" name="Google Shape;12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8" name="Google Shape;12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37" name="Google Shape;137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2" name="Google Shape;142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" name="Google Shape;152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5" name="Google Shape;155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6" name="Google Shape;156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8" name="Google Shape;158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4" name="Google Shape;164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5" name="Google Shape;165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7" name="Google Shape;167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8" name="Google Shape;168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70" name="Google Shape;170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71" name="Google Shape;171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73" name="Google Shape;173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74" name="Google Shape;174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76" name="Google Shape;176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9" name="Google Shape;17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83" name="Google Shape;183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4" name="Google Shape;184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5" name="Google Shape;185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87" name="Google Shape;187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95" name="Google Shape;195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96" name="Google Shape;196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97" name="Google Shape;197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98" name="Google Shape;198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" name="Google Shape;199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00" name="Google Shape;200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201" name="Google Shape;201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2" name="Google Shape;202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3" name="Google Shape;203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04" name="Google Shape;204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205" name="Google Shape;205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6" name="Google Shape;206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7" name="Google Shape;207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08" name="Google Shape;208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209" name="Google Shape;209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12" name="Google Shape;212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213" name="Google Shape;213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5" name="Google Shape;215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16" name="Google Shape;216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9" name="Google Shape;219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21" name="Google Shape;221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3" name="Google Shape;223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27" name="Google Shape;227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" name="Google Shape;230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2" name="Google Shape;232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5" name="Google Shape;235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36" name="Google Shape;236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8" name="Google Shape;238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41" name="Google Shape;241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0" name="Google Shape;250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3" name="Google Shape;253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4" name="Google Shape;254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8" name="Google Shape;258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9" name="Google Shape;259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60" name="Google Shape;260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" name="Google Shape;261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2" name="Google Shape;262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67" name="Google Shape;267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8" name="Google Shape;268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9" name="Google Shape;269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70" name="Google Shape;270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2" name="Google Shape;272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3" name="Google Shape;273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4" name="Google Shape;274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7" name="Google Shape;277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5" name="Google Shape;28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1" name="Google Shape;291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2" name="Google Shape;292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4" name="Google Shape;294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5" name="Google Shape;295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6" name="Google Shape;296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8" name="Google Shape;298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00" name="Google Shape;300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2" name="Google Shape;302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03" name="Google Shape;303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5" name="Google Shape;305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6" name="Google Shape;306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8" name="Google Shape;30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11" name="Google Shape;31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3" name="Google Shape;31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4" name="Google Shape;31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15" name="Google Shape;31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317" name="Google Shape;31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9" name="Google Shape;31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0" name="Google Shape;32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1" name="Google Shape;32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8" name="Google Shape;328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3" name="Google Shape;333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5" name="Google Shape;335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7" name="Google Shape;337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38" name="Google Shape;338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1" name="Google Shape;341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2" name="Google Shape;342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3" name="Google Shape;343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4" name="Google Shape;344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45" name="Google Shape;345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0" name="Google Shape;350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51" name="Google Shape;351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2" name="Google Shape;352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54" name="Google Shape;354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57" name="Google Shape;357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8" name="Google Shape;358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9" name="Google Shape;359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60" name="Google Shape;360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61" name="Google Shape;361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62" name="Google Shape;362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7" name="Google Shape;367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68" name="Google Shape;368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69" name="Google Shape;369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0" name="Google Shape;370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1" name="Google Shape;371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73" name="Google Shape;373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74" name="Google Shape;374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75" name="Google Shape;375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76" name="Google Shape;376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7" name="Google Shape;377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8" name="Google Shape;378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9" name="Google Shape;379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0" name="Google Shape;380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81" name="Google Shape;381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83" name="Google Shape;38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7" name="Google Shape;387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88" name="Google Shape;388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1" name="Google Shape;391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93" name="Google Shape;393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5" name="Google Shape;395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96" name="Google Shape;396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97" name="Google Shape;397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8" name="Google Shape;398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99" name="Google Shape;399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00" name="Google Shape;400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4" name="Google Shape;404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5" name="Google Shape;40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8" name="Google Shape;408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5" name="Google Shape;415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0" name="Google Shape;42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3" name="Google Shape;423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7" name="Google Shape;427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2" name="Google Shape;432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435" name="Google Shape;43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8" name="Google Shape;438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9" name="Google Shape;439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4" name="Google Shape;444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6" name="Google Shape;446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7" name="Google Shape;447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8" name="Google Shape;448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0" name="Google Shape;45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3" name="Google Shape;453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8" name="Google Shape;458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0" name="Google Shape;460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5" name="Google Shape;465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7" name="Google Shape;467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8" name="Google Shape;468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9" name="Google Shape;469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0" name="Google Shape;470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1" name="Google Shape;471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4" name="Google Shape;474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5" name="Google Shape;475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6" name="Google Shape;476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7" name="Google Shape;477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8" name="Google Shape;478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9" name="Google Shape;479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0" name="Google Shape;480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5" name="Google Shape;48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9" name="Google Shape;489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3" name="Google Shape;493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8" name="Google Shape;498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1" name="Google Shape;501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3" name="Google Shape;50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4" name="Google Shape;504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5" name="Google Shape;505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6" name="Google Shape;506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7" name="Google Shape;507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9" name="Google Shape;519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github.com/Field-Experiments/AI-for-Job-Trend-Analysis_Organization.git" TargetMode="External"/><Relationship Id="rId5" Type="http://schemas.openxmlformats.org/officeDocument/2006/relationships/hyperlink" Target="https://github.com/Field-Experiments/AI-for-Job-Trend-Analysis_Organization.git" TargetMode="External"/><Relationship Id="rId6" Type="http://schemas.openxmlformats.org/officeDocument/2006/relationships/hyperlink" Target="https://field-experiments-ai-for-job-trend-analysis-organiza-app-8wmlxp.streamlit.app/" TargetMode="External"/><Relationship Id="rId7" Type="http://schemas.openxmlformats.org/officeDocument/2006/relationships/hyperlink" Target="https://docs.google.com/document/d/1BtuqQrqJNHSOjdRrQX0R7A0hy3FjvijYIVen_lpUpvE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3"/>
          <p:cNvSpPr txBox="1"/>
          <p:nvPr>
            <p:ph type="ctrTitle"/>
          </p:nvPr>
        </p:nvSpPr>
        <p:spPr>
          <a:xfrm>
            <a:off x="311708" y="692972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for Job Trend Analysis</a:t>
            </a:r>
            <a:endParaRPr/>
          </a:p>
        </p:txBody>
      </p:sp>
      <p:sp>
        <p:nvSpPr>
          <p:cNvPr id="528" name="Google Shape;528;p53"/>
          <p:cNvSpPr txBox="1"/>
          <p:nvPr>
            <p:ph idx="1" type="subTitle"/>
          </p:nvPr>
        </p:nvSpPr>
        <p:spPr>
          <a:xfrm>
            <a:off x="311700" y="3243900"/>
            <a:ext cx="8520600" cy="13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Name:                                                                              Student Code: </a:t>
            </a:r>
            <a:endParaRPr sz="23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Y.R.Rishidhar Reddy                                               iitrpr_ai_25010526</a:t>
            </a:r>
            <a:endParaRPr sz="2300"/>
          </a:p>
        </p:txBody>
      </p:sp>
      <p:sp>
        <p:nvSpPr>
          <p:cNvPr id="529" name="Google Shape;529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0" name="Google Shape;530;p53" title="Screenshot 2026-01-16 173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661" y="188453"/>
            <a:ext cx="548700" cy="556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Overview</a:t>
            </a:r>
            <a:endParaRPr/>
          </a:p>
        </p:txBody>
      </p:sp>
      <p:sp>
        <p:nvSpPr>
          <p:cNvPr id="536" name="Google Shape;536;p54"/>
          <p:cNvSpPr txBox="1"/>
          <p:nvPr>
            <p:ph idx="2" type="body"/>
          </p:nvPr>
        </p:nvSpPr>
        <p:spPr>
          <a:xfrm>
            <a:off x="5048000" y="212753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Build an AI system that analyzes job data and identifies future-ready and booming job roles by country</a:t>
            </a:r>
            <a:endParaRPr sz="2300"/>
          </a:p>
        </p:txBody>
      </p:sp>
      <p:sp>
        <p:nvSpPr>
          <p:cNvPr id="537" name="Google Shape;537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8" name="Google Shape;538;p54" title="Screenshot 2026-01-16 173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661" y="188453"/>
            <a:ext cx="548700" cy="55613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4"/>
          <p:cNvSpPr txBox="1"/>
          <p:nvPr>
            <p:ph idx="1" type="body"/>
          </p:nvPr>
        </p:nvSpPr>
        <p:spPr>
          <a:xfrm>
            <a:off x="228600" y="1936500"/>
            <a:ext cx="3874500" cy="32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Job markets change rapidly across countries and roles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Students and professionals lack data-driven insights on which jobs are booming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Raw job datasets are large, complex, and hard to interpret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Manual analysis is slow and subjective</a:t>
            </a:r>
            <a:endParaRPr sz="17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0" name="Google Shape;540;p54"/>
          <p:cNvSpPr txBox="1"/>
          <p:nvPr>
            <p:ph idx="3" type="subTitle"/>
          </p:nvPr>
        </p:nvSpPr>
        <p:spPr>
          <a:xfrm>
            <a:off x="483175" y="1336148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🎯 The Challenge</a:t>
            </a:r>
            <a:endParaRPr/>
          </a:p>
        </p:txBody>
      </p:sp>
      <p:sp>
        <p:nvSpPr>
          <p:cNvPr id="541" name="Google Shape;541;p54"/>
          <p:cNvSpPr txBox="1"/>
          <p:nvPr>
            <p:ph idx="4" type="subTitle"/>
          </p:nvPr>
        </p:nvSpPr>
        <p:spPr>
          <a:xfrm>
            <a:off x="5048000" y="1203701"/>
            <a:ext cx="3619800" cy="8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E8E8E8"/>
                </a:solidFill>
                <a:highlight>
                  <a:srgbClr val="1F1F1F"/>
                </a:highlight>
                <a:latin typeface="Arial"/>
                <a:ea typeface="Arial"/>
                <a:cs typeface="Arial"/>
                <a:sym typeface="Arial"/>
              </a:rPr>
              <a:t>💡</a:t>
            </a:r>
            <a:r>
              <a:rPr lang="en"/>
              <a:t>The Solution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&amp; Workflow</a:t>
            </a:r>
            <a:endParaRPr/>
          </a:p>
        </p:txBody>
      </p:sp>
      <p:sp>
        <p:nvSpPr>
          <p:cNvPr id="547" name="Google Shape;547;p55"/>
          <p:cNvSpPr txBox="1"/>
          <p:nvPr>
            <p:ph idx="1" type="body"/>
          </p:nvPr>
        </p:nvSpPr>
        <p:spPr>
          <a:xfrm>
            <a:off x="425750" y="1175588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Urbanist Medium"/>
                <a:ea typeface="Urbanist Medium"/>
                <a:cs typeface="Urbanist Medium"/>
                <a:sym typeface="Urbanist Medium"/>
              </a:rPr>
              <a:t>Data Input: User uploads job dataset (CSV)</a:t>
            </a:r>
            <a:endParaRPr sz="22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Urbanist Medium"/>
                <a:ea typeface="Urbanist Medium"/>
                <a:cs typeface="Urbanist Medium"/>
                <a:sym typeface="Urbanist Medium"/>
              </a:rPr>
              <a:t>Data Preprocessing: Feature preparation and cleaning</a:t>
            </a:r>
            <a:endParaRPr sz="22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Urbanist Medium"/>
                <a:ea typeface="Urbanist Medium"/>
                <a:cs typeface="Urbanist Medium"/>
                <a:sym typeface="Urbanist Medium"/>
              </a:rPr>
              <a:t>Model Selection:</a:t>
            </a:r>
            <a:endParaRPr sz="22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 Medium"/>
              <a:buChar char="●"/>
            </a:pPr>
            <a:r>
              <a:rPr lang="en" sz="2200">
                <a:latin typeface="Urbanist Medium"/>
                <a:ea typeface="Urbanist Medium"/>
                <a:cs typeface="Urbanist Medium"/>
                <a:sym typeface="Urbanist Medium"/>
              </a:rPr>
              <a:t>Use pre-trained ML models (instant predictions)</a:t>
            </a:r>
            <a:endParaRPr sz="22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 Medium"/>
              <a:buChar char="●"/>
            </a:pPr>
            <a:r>
              <a:rPr lang="en" sz="2200">
                <a:latin typeface="Urbanist Medium"/>
                <a:ea typeface="Urbanist Medium"/>
                <a:cs typeface="Urbanist Medium"/>
                <a:sym typeface="Urbanist Medium"/>
              </a:rPr>
              <a:t>Train a custom model (flexible analysis)</a:t>
            </a:r>
            <a:endParaRPr sz="22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Urbanist Medium"/>
                <a:ea typeface="Urbanist Medium"/>
                <a:cs typeface="Urbanist Medium"/>
                <a:sym typeface="Urbanist Medium"/>
              </a:rPr>
              <a:t>Prediction: Model generates trend scoring</a:t>
            </a:r>
            <a:endParaRPr sz="22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Urbanist Medium"/>
                <a:ea typeface="Urbanist Medium"/>
                <a:cs typeface="Urbanist Medium"/>
                <a:sym typeface="Urbanist Medium"/>
              </a:rPr>
              <a:t>Visualization: Insights delivered via Streamlit dashboard</a:t>
            </a:r>
            <a:endParaRPr sz="2200"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48" name="Google Shape;548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9" name="Google Shape;549;p55" title="Screenshot 2026-01-16 173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661" y="188453"/>
            <a:ext cx="548700" cy="556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6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Three-Layer Architecture</a:t>
            </a:r>
            <a:endParaRPr/>
          </a:p>
        </p:txBody>
      </p:sp>
      <p:sp>
        <p:nvSpPr>
          <p:cNvPr id="555" name="Google Shape;555;p56"/>
          <p:cNvSpPr txBox="1"/>
          <p:nvPr>
            <p:ph idx="2" type="body"/>
          </p:nvPr>
        </p:nvSpPr>
        <p:spPr>
          <a:xfrm>
            <a:off x="3103950" y="2433075"/>
            <a:ext cx="26994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Multiple regression models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Pre-trained model repository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Custom model training pipeline</a:t>
            </a:r>
            <a:endParaRPr sz="1900"/>
          </a:p>
        </p:txBody>
      </p:sp>
      <p:sp>
        <p:nvSpPr>
          <p:cNvPr id="556" name="Google Shape;556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7" name="Google Shape;557;p56" title="Screenshot 2026-01-16 173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661" y="188453"/>
            <a:ext cx="548700" cy="556136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6"/>
          <p:cNvSpPr txBox="1"/>
          <p:nvPr>
            <p:ph idx="1" type="body"/>
          </p:nvPr>
        </p:nvSpPr>
        <p:spPr>
          <a:xfrm>
            <a:off x="483175" y="2417500"/>
            <a:ext cx="24555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Data validation and cleaning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Feature encoding and scaling</a:t>
            </a:r>
            <a:endParaRPr sz="1900"/>
          </a:p>
        </p:txBody>
      </p:sp>
      <p:sp>
        <p:nvSpPr>
          <p:cNvPr id="559" name="Google Shape;559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📊 Data Processing Layer</a:t>
            </a:r>
            <a:endParaRPr/>
          </a:p>
        </p:txBody>
      </p:sp>
      <p:sp>
        <p:nvSpPr>
          <p:cNvPr id="560" name="Google Shape;560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🤖 Machine Learning Layer</a:t>
            </a:r>
            <a:endParaRPr/>
          </a:p>
        </p:txBody>
      </p:sp>
      <p:sp>
        <p:nvSpPr>
          <p:cNvPr id="561" name="Google Shape;561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📈 Visualization &amp; Dashboard Layer</a:t>
            </a:r>
            <a:endParaRPr/>
          </a:p>
        </p:txBody>
      </p:sp>
      <p:sp>
        <p:nvSpPr>
          <p:cNvPr id="562" name="Google Shape;562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Interactive Streamlit interface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Real-time predictions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Downloadable results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7"/>
          <p:cNvSpPr txBox="1"/>
          <p:nvPr>
            <p:ph type="title"/>
          </p:nvPr>
        </p:nvSpPr>
        <p:spPr>
          <a:xfrm>
            <a:off x="483175" y="182444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Model Design</a:t>
            </a:r>
            <a:endParaRPr/>
          </a:p>
        </p:txBody>
      </p:sp>
      <p:sp>
        <p:nvSpPr>
          <p:cNvPr id="568" name="Google Shape;568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9" name="Google Shape;569;p57" title="Screenshot 2026-01-16 173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661" y="188453"/>
            <a:ext cx="548700" cy="556136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57"/>
          <p:cNvSpPr txBox="1"/>
          <p:nvPr>
            <p:ph idx="1" type="body"/>
          </p:nvPr>
        </p:nvSpPr>
        <p:spPr>
          <a:xfrm>
            <a:off x="391075" y="1473335"/>
            <a:ext cx="3619800" cy="3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job_title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Job role/title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company_name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Name of the hiring company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company_location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Country or region of the job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company_size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Size category of the organization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employment_type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Full-time, Part-time, Contract, etc.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experience_level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Required experience level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education_required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Minimum education requirement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salary_usd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Salary offered (numeric)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application_deadline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– Job application deadline (numerically encoded)</a:t>
            </a:r>
            <a:endParaRPr sz="1300"/>
          </a:p>
        </p:txBody>
      </p:sp>
      <p:sp>
        <p:nvSpPr>
          <p:cNvPr id="571" name="Google Shape;571;p57"/>
          <p:cNvSpPr txBox="1"/>
          <p:nvPr>
            <p:ph idx="3" type="subTitle"/>
          </p:nvPr>
        </p:nvSpPr>
        <p:spPr>
          <a:xfrm>
            <a:off x="519900" y="861272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Features</a:t>
            </a:r>
            <a:endParaRPr/>
          </a:p>
        </p:txBody>
      </p:sp>
      <p:sp>
        <p:nvSpPr>
          <p:cNvPr id="572" name="Google Shape;572;p57"/>
          <p:cNvSpPr txBox="1"/>
          <p:nvPr>
            <p:ph idx="4" type="subTitle"/>
          </p:nvPr>
        </p:nvSpPr>
        <p:spPr>
          <a:xfrm>
            <a:off x="4910200" y="861272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Models Implemented</a:t>
            </a:r>
            <a:endParaRPr/>
          </a:p>
        </p:txBody>
      </p:sp>
      <p:graphicFrame>
        <p:nvGraphicFramePr>
          <p:cNvPr id="573" name="Google Shape;573;p57"/>
          <p:cNvGraphicFramePr/>
          <p:nvPr/>
        </p:nvGraphicFramePr>
        <p:xfrm>
          <a:off x="4242581" y="13151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{B5179E1B-7E6A-4949-828D-5E934FB612F4}</a:tableStyleId>
              </a:tblPr>
              <a:tblGrid>
                <a:gridCol w="1554100"/>
                <a:gridCol w="1554100"/>
                <a:gridCol w="1554100"/>
              </a:tblGrid>
              <a:tr h="354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Model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Purpose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6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Ensemble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Primary model (R² = 0.65)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6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XGBoost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Gradient Boosting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High accuracy alternative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Extra Trees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Ensemble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Fast predictions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6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Gradient Boosting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Sequential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Iterative improvement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6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LightGBM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Gradient Boosting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Large dataset efficiency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566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Linear Regression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Baseline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Comparison benchmark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8"/>
          <p:cNvSpPr txBox="1"/>
          <p:nvPr>
            <p:ph type="title"/>
          </p:nvPr>
        </p:nvSpPr>
        <p:spPr>
          <a:xfrm>
            <a:off x="311700" y="32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Snapshots</a:t>
            </a:r>
            <a:endParaRPr/>
          </a:p>
        </p:txBody>
      </p:sp>
      <p:sp>
        <p:nvSpPr>
          <p:cNvPr id="579" name="Google Shape;579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0" name="Google Shape;580;p58" title="Screenshot 2026-01-16 173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661" y="188453"/>
            <a:ext cx="548700" cy="556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58" title="Screenshot 2026-01-17 1457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550" y="1005338"/>
            <a:ext cx="2581275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58" title="Screenshot 2026-01-17 14574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522" y="2380275"/>
            <a:ext cx="2124139" cy="25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58" title="Screenshot 2026-01-17 14572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36272" y="2380275"/>
            <a:ext cx="1952600" cy="271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58" title="Screenshot 2026-01-17 14590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41147" y="898800"/>
            <a:ext cx="2956499" cy="195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58" title="Screenshot 2026-01-17 150013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67222" y="3117675"/>
            <a:ext cx="3389547" cy="188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58" title="Screenshot 2026-01-17 150214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71424" y="1438603"/>
            <a:ext cx="2124125" cy="64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2" name="Google Shape;592;p59" title="Screenshot 2026-01-16 173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661" y="188453"/>
            <a:ext cx="548700" cy="556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59" title="Screenshot 2026-01-17 1458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125" y="851626"/>
            <a:ext cx="8603727" cy="4060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Results &amp; Evaluation</a:t>
            </a:r>
            <a:endParaRPr/>
          </a:p>
        </p:txBody>
      </p:sp>
      <p:sp>
        <p:nvSpPr>
          <p:cNvPr id="599" name="Google Shape;599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0" name="Google Shape;600;p60" title="Screenshot 2026-01-16 173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661" y="188453"/>
            <a:ext cx="548700" cy="5561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1" name="Google Shape;601;p60"/>
          <p:cNvGraphicFramePr/>
          <p:nvPr/>
        </p:nvGraphicFramePr>
        <p:xfrm>
          <a:off x="3283142" y="119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{B5179E1B-7E6A-4949-828D-5E934FB612F4}</a:tableStyleId>
              </a:tblPr>
              <a:tblGrid>
                <a:gridCol w="1366250"/>
                <a:gridCol w="1366250"/>
                <a:gridCol w="1366250"/>
                <a:gridCol w="1366250"/>
              </a:tblGrid>
              <a:tr h="452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Model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RMSE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R² Score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Performance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47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Random Forest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0.82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0.65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⭐ Best Overall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47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XGBoost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0.82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0.65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⭐ Co-Leader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47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Extra Trees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0.83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Strong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47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LightGBM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0.86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0.61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Good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47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Gradient Boosting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0.89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0.58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Moderate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47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Linear Regression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1.35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0.04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Baseline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602" name="Google Shape;602;p60"/>
          <p:cNvSpPr txBox="1"/>
          <p:nvPr/>
        </p:nvSpPr>
        <p:spPr>
          <a:xfrm>
            <a:off x="154650" y="1200750"/>
            <a:ext cx="3000000" cy="27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Evaluation Metrics</a:t>
            </a:r>
            <a:endParaRPr b="1" sz="19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RMSE (Root Mean Squared Error):</a:t>
            </a:r>
            <a:r>
              <a:rPr lang="en" sz="1700">
                <a:solidFill>
                  <a:schemeClr val="lt1"/>
                </a:solidFill>
              </a:rPr>
              <a:t> Measures prediction accuracy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R² Score:</a:t>
            </a:r>
            <a:r>
              <a:rPr lang="en" sz="1700">
                <a:solidFill>
                  <a:schemeClr val="lt1"/>
                </a:solidFill>
              </a:rPr>
              <a:t> Explains variance in trend scores (0-1 scale)</a:t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1"/>
          <p:cNvSpPr txBox="1"/>
          <p:nvPr>
            <p:ph type="title"/>
          </p:nvPr>
        </p:nvSpPr>
        <p:spPr>
          <a:xfrm>
            <a:off x="311700" y="370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Learnings</a:t>
            </a:r>
            <a:endParaRPr/>
          </a:p>
        </p:txBody>
      </p:sp>
      <p:sp>
        <p:nvSpPr>
          <p:cNvPr id="608" name="Google Shape;608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9" name="Google Shape;609;p61" title="Screenshot 2026-01-16 173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661" y="188453"/>
            <a:ext cx="548700" cy="556136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61"/>
          <p:cNvSpPr txBox="1"/>
          <p:nvPr/>
        </p:nvSpPr>
        <p:spPr>
          <a:xfrm>
            <a:off x="551075" y="1154700"/>
            <a:ext cx="30000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FFFF"/>
                </a:solidFill>
              </a:rPr>
              <a:t>🔧 Feature Engineering</a:t>
            </a:r>
            <a:endParaRPr b="1" sz="1200">
              <a:solidFill>
                <a:srgbClr val="00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Learned importance of maintaining feature consistency between training and deployment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Implemented 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feature_names.pkl</a:t>
            </a:r>
            <a:r>
              <a:rPr lang="en" sz="1200">
                <a:solidFill>
                  <a:schemeClr val="lt1"/>
                </a:solidFill>
              </a:rPr>
              <a:t> to prevent feature mismatch errors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11" name="Google Shape;611;p61"/>
          <p:cNvSpPr txBox="1"/>
          <p:nvPr/>
        </p:nvSpPr>
        <p:spPr>
          <a:xfrm>
            <a:off x="4945300" y="1154700"/>
            <a:ext cx="30000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FFFF"/>
                </a:solidFill>
              </a:rPr>
              <a:t>📊 Model Comparison &amp; Selection</a:t>
            </a:r>
            <a:endParaRPr b="1" sz="1200">
              <a:solidFill>
                <a:srgbClr val="00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Gained experience comparing multiple ML algorithms systematically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Learned to select models based on multiple metrics (RMSE, R²)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12" name="Google Shape;612;p61"/>
          <p:cNvSpPr txBox="1"/>
          <p:nvPr/>
        </p:nvSpPr>
        <p:spPr>
          <a:xfrm>
            <a:off x="551075" y="3164350"/>
            <a:ext cx="30000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🚀</a:t>
            </a:r>
            <a:r>
              <a:rPr b="1" lang="en" sz="1200">
                <a:solidFill>
                  <a:srgbClr val="00FFFF"/>
                </a:solidFill>
              </a:rPr>
              <a:t> Deployment Challenges</a:t>
            </a:r>
            <a:endParaRPr b="1" sz="1200">
              <a:solidFill>
                <a:srgbClr val="00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Solved real-world deployment issues (feature mismatch, model loading)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Learned proper model serialization with pickle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613" name="Google Shape;613;p61"/>
          <p:cNvSpPr txBox="1"/>
          <p:nvPr/>
        </p:nvSpPr>
        <p:spPr>
          <a:xfrm>
            <a:off x="4945300" y="3270550"/>
            <a:ext cx="30000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📈 </a:t>
            </a:r>
            <a:r>
              <a:rPr b="1" lang="en" sz="1200">
                <a:solidFill>
                  <a:srgbClr val="00FFFF"/>
                </a:solidFill>
              </a:rPr>
              <a:t>Data Visualization</a:t>
            </a:r>
            <a:endParaRPr b="1" sz="1200">
              <a:solidFill>
                <a:srgbClr val="00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Built interactive dashboards with Streamlit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Learned to present AI outputs to non-technical users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2"/>
          <p:cNvSpPr txBox="1"/>
          <p:nvPr>
            <p:ph type="title"/>
          </p:nvPr>
        </p:nvSpPr>
        <p:spPr>
          <a:xfrm>
            <a:off x="4916450" y="2045550"/>
            <a:ext cx="40299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THANK </a:t>
            </a:r>
            <a:endParaRPr>
              <a:solidFill>
                <a:schemeClr val="accent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YOU !</a:t>
            </a:r>
            <a:endParaRPr sz="1800">
              <a:solidFill>
                <a:schemeClr val="accent4"/>
              </a:solidFill>
            </a:endParaRPr>
          </a:p>
        </p:txBody>
      </p:sp>
      <p:sp>
        <p:nvSpPr>
          <p:cNvPr id="619" name="Google Shape;619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0" name="Google Shape;620;p62" title="Screenshot 2026-01-16 1738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97661" y="188453"/>
            <a:ext cx="548700" cy="556136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62"/>
          <p:cNvSpPr txBox="1"/>
          <p:nvPr/>
        </p:nvSpPr>
        <p:spPr>
          <a:xfrm>
            <a:off x="228600" y="1627475"/>
            <a:ext cx="4911300" cy="16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Project Repository:</a:t>
            </a:r>
            <a:r>
              <a:rPr lang="en" sz="2300">
                <a:solidFill>
                  <a:schemeClr val="lt1"/>
                </a:solidFill>
              </a:rPr>
              <a:t> </a:t>
            </a:r>
            <a:r>
              <a:rPr lang="en" sz="2300" u="sng">
                <a:solidFill>
                  <a:srgbClr val="00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</a:t>
            </a:r>
            <a:r>
              <a:rPr lang="en" sz="2300" u="sng">
                <a:solidFill>
                  <a:srgbClr val="00FF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thub link</a:t>
            </a:r>
            <a:endParaRPr sz="2300">
              <a:solidFill>
                <a:srgbClr val="00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Live Dashboard:</a:t>
            </a:r>
            <a:r>
              <a:rPr lang="en" sz="2300">
                <a:solidFill>
                  <a:schemeClr val="lt1"/>
                </a:solidFill>
              </a:rPr>
              <a:t> </a:t>
            </a:r>
            <a:r>
              <a:rPr lang="en" sz="2300" u="sng">
                <a:solidFill>
                  <a:srgbClr val="00FFFF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App link</a:t>
            </a:r>
            <a:endParaRPr sz="2300">
              <a:solidFill>
                <a:srgbClr val="00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Documentation</a:t>
            </a:r>
            <a:r>
              <a:rPr lang="en" sz="2300">
                <a:solidFill>
                  <a:schemeClr val="lt1"/>
                </a:solidFill>
              </a:rPr>
              <a:t>: </a:t>
            </a:r>
            <a:r>
              <a:rPr lang="en" sz="2300" u="sng">
                <a:solidFill>
                  <a:srgbClr val="00FFFF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 Link</a:t>
            </a:r>
            <a:r>
              <a:rPr lang="en" sz="2300">
                <a:solidFill>
                  <a:srgbClr val="00FFFF"/>
                </a:solidFill>
              </a:rPr>
              <a:t> </a:t>
            </a:r>
            <a:endParaRPr sz="2300">
              <a:solidFill>
                <a:srgbClr val="00FFFF"/>
              </a:solidFill>
            </a:endParaRPr>
          </a:p>
        </p:txBody>
      </p:sp>
      <p:sp>
        <p:nvSpPr>
          <p:cNvPr id="622" name="Google Shape;622;p62"/>
          <p:cNvSpPr txBox="1"/>
          <p:nvPr>
            <p:ph type="title"/>
          </p:nvPr>
        </p:nvSpPr>
        <p:spPr>
          <a:xfrm>
            <a:off x="709650" y="3337800"/>
            <a:ext cx="394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*</a:t>
            </a:r>
            <a:r>
              <a:rPr lang="en" sz="1200"/>
              <a:t>I Also used Claude and ChatGPT for </a:t>
            </a:r>
            <a:r>
              <a:rPr lang="en" sz="1200"/>
              <a:t>assistance</a:t>
            </a:r>
            <a:r>
              <a:rPr lang="en" sz="1200"/>
              <a:t>.</a:t>
            </a:r>
            <a:endParaRPr sz="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